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Topic: learning a satellite's station-keeping control law from noisy tracking data and forecasting its burns.
- Setting: UK Space Agency challenge brief; UROP project at Imperial College London.
- Approach: a known-truth simulation, then a chain of estimators scored against that truth.
- Talk: 45 minutes in process order (physics, code, detection, learning, forecasting, assessment).
- 15 minutes for questions at the end; backup detail is in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talk follows the processing chain from left to right.
- Stage 0 builds the truth: a 400-day simulation with a deadband controller.
- Stages 1-3 estimate the natural dynamics, detect burns and learn the laws.
- Stage 4 forecasts burns; extensions test the forecasts in operational settings.
- We close with an error budget, method ranking and best practices.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Of ~50,000 tracked objects ~15,000 are active and may manoeuvre; mega-constellations will multiply this.
- Unpredicted manoeuvres break conjunction screening, track association and sensor scheduling.
- Brief Figure 1: a 500 m deadband shifts the miss distance by hundreds of km in a week.
- The gap: reconstruct the control law from measurements and use it to forecast.
- Our figure reproduces Figure 1 from our own simulation (controlled vs drag-only twin).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State x = (r, v) in non-dimensional units: DU = 6371 km, TU = 1/omega_Earth = 13,713.44 s, mu = 289.873.
- Forces: two-body gravity, J2 (equatorial radius 6378.137 km), quadratic drag, Moon, Sun, SRP, thrust.
- Mean accelerations: gravity 8.3, J2 1.2e-2, Moon 8.8e-7, drag 8.1e-7, Sun 4.0e-7, SRP 1.1e-7 m/s^2.
- Thrust 2e-4 m/s^2 sits between J2 and drag: detectable once J2 is removed.
- Drag tuned to 5.3 m/h of SMA decay (realistic order for 550 km); constant density in the core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force is a small pure function of the state; the right-hand side just sums them.
- Everything is non-dimensional; J2 uses the EQUATORIAL radius (a bug found and fixed: 0.22% too weak before).
- Drag is -c_d |v| v with a lumped ballistic coefficient c_d.
- Vectorised versions of the same functions are reused by the classifier (known_accel).
- Unit test: a_J2 equals minus the gradient of the J2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Simulated node from the angular momentum h = r x v: Omega = atan2(h_x, -h_y), cos i = h_z/|h|.
- Theory: dOmega/dt = -3/2 n J2 (Re/p)^2 cos i, with one-orbit means of a and i, p = a(1-e^2) ~ a.
- The rate is integrated along the run (cumulative sum, 1-min steps) because drag lowers the orbit 51 km.
- Agreement after 400 days: 0.04% (rate -4.526 deg/day at start, -4.642 deg/day at end).
- This check exposed the mean-radius bug (J2 was 0.22% too weak) before any learning was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Free runs: DOP853, explicit 8th-order Runge-Kutta, rtol = atol = 1e-10 (non-dimensional).
- Controlled runs: LSODA, which switches automatically between non-stiff Adams and stiff BDF methods.
- The tanh switches make the controlled ODE stiff for seconds at each burn edge; LSODA shrinks its steps there.
- Cross-check over 2 days vs a 1e-13 DOP853 reference: DOP853 0.27 m, LSODA 28 m, Radau 0.013 m.
- States are read from the solver's dense output every 6 s; 10-day chunks keep memory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Osculating SMA from two-body energy swings 12.2 km per orbit under J2: 25x the 500 m band.
- A controller on the osculating SMA fires every orbit and climbs out of the band.
- Adding the J2 potential to the energy gives a quantity that is constant under J2.
- It then changes only through drag and thrust: exactly what the deadband must see.
- Check: first-order swing 3 J2 Re^2 sin^2 i / a = 12.17 km vs 12.22 km simulated (0.4%).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Ideal law: s = 1 when a &lt;= a_L, s = 0 when a &gt;= a_U, otherwise keep s (memory).
- Heaviside steps are discontinuous: a solver needs events and thrust would jump instantly.
- Replace each step with sigma(x) = (1 + tanh(x/w))/2, w = 5 m; s gets its own ODE with time constant 60 s.
- Latch term s(1-s)(2s-1) makes s = 0 and s = 1 the stable states: the memory (hysteresis).
- Throttle opens only past s = 0.9 so the burn cannot stall half-way.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rising_switch is the tanh sigmoid; it replaces every 'if' of the ideal law.
- thruster_state_rate is ds/dt: switch on below the lower edge, off above the upper edge, latch in between.
- throttle maps the state s to how open the engine is; a_thrust points along the velocity.
- The controller reads the J2 mean SMA, so it ignores the 12 km osculating swing.
- No events, no discontinuities: one smooth 7-state ODE [r, v, s].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closure returns d/dt of [r, v, s] for solve_ivp.
- Physics part: gravity + drag + J2, plus Moon / Sun / SRP when requested (evaluated at absolute time).
- Control part: thrust from s, and ds/dt from the J2 mean SMA.
- controlled=False gives the drag-only twin; use_mean_sma=False reproduces the osculating failure case.
- Same function drives the J2+drag run and the all-forces run (step 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400-day run is integrated in 40 chunks of 10 days; each chunk starts from the last state.
- Samples every 6 s come from the LSODA dense output; the result is cached to disk (~370 MB).
- Outcome: 102 burns, one every 3.9051 days, 22.8 min each, 0.273 m/s per burn, 27.8 m/s in total.
- Mean SMA stays inside [6921.904, 6922.402] km for the whole run.
- TRAIN = days 0-40, TEST = days 40-400, horizons 15-360 days throughout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Reduced to the slow states x = (a, s): da/dt = -c_d D(a,v) + T theta(s) B(a,v); ds/dt from the switches.
- Inside the band only the latch acts: s = 0 (coast) and s = 1 (burn) are both stable.
- At a_L the coast branch loses stability and s jumps to 1; at a_U the burn branch drops to 0.
- Result: a clockwise hysteresis loop; the same SMA can be coasting or burning.
- So a memory-less law s = f(a) cannot work (balanced accuracy 0.50 vs 1.00 for hysteresis).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headline number is recomputed from a formula (deadband/report_checks.py).
- Examples: decay -2 c_d sqrt(mu a) = 5.333 vs 5.335 m/h; burn 1370 vs 1368 s; period exact.
- Delta-v per burn v Delta-a / 2a = 0.2741 vs 0.2730 m/s; J2 Nyquist T/4 = 23.88 min.
- Forecast error from a period error: (1/2) H |dP/P|, within 0.9% for the SINDy scenarios.
- All 16 checks pass (14 within 1%; stacking noise within 11%; two inequality bounds hold).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FD regression: differentiate positions twice and solve least squares; noise amplified as sigma/h^2.
- Energy method: one slope through the mean-SMA history; averages the noise of every sample.
- Shooting (Levenberg-Marquardt) and an EKF with state (r, v, c_d).
- 15 days, 1-min data, 10 m noise: FD 6.3%, energy 0.035%; EKF on 10-min data 0.04% (15 d), 0.01% (30 d).
- Inside the full chain c_d is learned on clean coast arcs to 0.03-0.08% at every sampling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Measured dv/dt minus modelled gravity and J2 leaves drag + thrust + noise + numerical error.
- This cancels seven decades (8.3 m/s^2 down to 8e-7), so numerical error was checked explicitly.
- Machine epsilon x |g| = 1.8e-15; SG truncation 8.3e-9; total numerical floor 1.0e-8 m/s^2.
- Floor is 80x below drag and 460x below the derivative noise at reference noise.
- So the GMM sees physics + measurement noise, not solver artefacts.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SG fits a degree-p polynomial to 2m+1 samples by least squares and differentiates it at the centre.
- Linear in the data, so it is a fixed convolution with known frequency response H(f).
- Exact for polynomials up to order p (no bias on the orbit), low-pass above the cut-off (rejects noise).
- Tuned 61 samples (6 min), order 5: cut-off ~2.8-min period; noise gain falls ~ window^-3/2.
- Cost: fast features (30-s thrust ramps) are smeared to ~60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Raw 3-D acceleration: coast (~1e-6) collapses to a dot next to burns (2e-4).
- x1 = ln|a_u|: compresses four decades so both clusters get comparable widths; frame independent.
- x2 = a_u . v_hat / 1e-4: thrust is along the velocity, noise points anywhere.
- Geometry: |x2| &lt;= e^x1 / 1e-4, so data fill a wedge; burns sit on its upper edge.
- For isotropic noise the along-track share is uniform on [-1, 1] (Archimedes' hat-box theorem).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GMM: p(x) = sum_k pi_k N(x; mu_k, Sigma_k), fitted by EM on 20,000 TRAIN samples (3 restarts).
- E-step: responsibilities gamma_ik; M-step: weighted weights, means and covariances.
- Unsupervised: never sees labels. K = 4 chosen by Brier score / event F1 (step 0).
- Burn rule: a component is 'burn' if its mean x1 is &gt; 3 coast standard deviations above the coast mean.
- Flags become events: fill gaps &lt;= 2 samples, drop runs &lt; 10 samples (1 min); score per event (+-60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Fitted components: three coast components (weights 0.42, 0.15, 0.42) and one burn component (0.0039).
- Check: burn weight should equal the duty cycle 1368 s / 3.905 d = 0.0041.
- 92 / 92 TEST burns, 0 false events, F1 = 1.0; mean start-time error 14 s at reference noise.
- 499 false-positive samples out of 5.18 million, all on thrust ramps; they merge into true events.
- Alternatives: Bayesian GMM and MAD threshold 1.0; Isolation Forest 0.85; k-means 0.001 (136,662 false events).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coast noise is 3-D Gaussian, |n|/sigma ~ chi_3 and x1 = ln|n| is log-chi distributed.
- Log-chi: left tail ~ exp(k x1) (fat, exponential), right tail ~ exp(-e^(2 x1)) (thinner than Gaussian).
- Data: skewness -0.89, left-tail slope 2.54 (theory 3), fitted k = 2.75; beats a Gaussian by 500 in log-likelihood.
- Physics mixture (log-chi coast + Gaussian burn, 10 parameters) beats the 23-parameter K = 4 GMM on BIC.
- BIC = -2 ln L + p ln n keeps falling with K because extra Gaussians only re-shape the skewed coast.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GMM keeps F1 = 1.0 from 0.25x to 8x the reference noise (0.1 m, 0.5 mm/s) at 6-s sampling.
- SG derivative feature works up to a 2-min step (curvature truncation dominates beyond).
- One-step propagation feature: propagate each state one step under gravity + J2 (RK4) and compare.
- Its noise scales as 1/h, so it works from ~1 to 20 min; switching at 2 min covers 6 s-20 min up to 2x noise.
- Limit: at 4x noise there is a gap near 1 min; above one burn length (23 min) a burn is diluted.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Autocorrelation of the along-track signal peaks at 3.9051 days, the true period.
- Stack all detected burns on their start time: noise falls as 1/sqrt(N) to a smoothing floor.
- GP (RBF + white kernel, hyper-parameters by marginal likelihood, 1500 random samples): plateau 0.999 of truth, duration exact.
- 6-parameter sigmoid law P sigma((t-t_on)/r) sigma((t_off-t)/f) + b fits 14% better (RMS) and is interpretable.
- Learned rise time 60 s vs true 30 s: the derivative filter, not the thruster.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SINDy: da/dt = Theta(a, s) xi, solved by sequentially thresholded least squares on unit-scaled columns.
- Physics library [D, B, 1] is singular over a 500 m band (correlation 0.997): use cluster indicators [1-s, s, ...].
- STLSQ keeps only the coast and burn terms: c_d 1.0005, T 0.9997 of the truth.
- BINDy here = ARD regression: Gaussian priors with learned precisions give posterior standard deviations.
- Threshold 0.05 chosen by test MSE of the predicted rate (step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A: one regression over all samples with detected thruster flags; B: c_d known; C: thrust known; D: both on clean arcs.
- Joint regression A is biased: ramp samples mislabelled, T -7.6%, c_d -0.8%, 1668 min after a year.
- D (split on clean arcs): c_d +0.06%, T -0.05%; 262 min after a year.
- B (natural law known) is best: 26 min, even though its T is 7.6% low.
- Lesson: the coast is 99.6% of each cycle, so the natural (drag) law governs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Edges: SMA read a settle time before each detected burn start (lower) and after each end (upper).
- Hysteresis states: on at or below the lower edge, off at or above the upper, otherwise keep the last state.
- Law forecast: coast time = band / coast rate, burn time = band / net burn rate; onsets every period.
- Forecasters compared: split law, joint law, BINDy, GP coast curve, periodic schedule.
- Constant drag: periodic 0.7 min, GP 19 min, split law 66 min, joint law 1391 min at 360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Run everything learned, then swap the truth into one stage at a time (6-s data, reference noise).
- All stages true: 1.4 min after 360 days (sanity check of the method).
- True edges: 66 -&gt; 21 min; true burn labels: 66 -&gt; 47 min. Edges dominate.
- True c_d alone makes it worse (84 min): the small c_d error was cancelling the edge error.
- Stage accuracies: c_d +0.029%, T -0.005%, edges -2.2 / -2.4 m, F1 1.000.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Same 400 days re-sampled at 6 s, 30 s, 1, 2, 5, 10 min; SG feature below 2 min, propagation above.
- Detection: F1 = 1.0 at every step.
- c_d within 0.08% at every step: the mean SMA averages the noise of every sample.
- Edges and T degrade from 5 min (few samples per 23-min burn): forecast error grows.
- The periodic schedule stays best here only because drag is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Second 400-day controlled run with J2 + drag + Moon + Sun + SRP (correct absolute time per chunk).
- Moon (9.3e-7), Sun (4.2e-7), SRP (1.1e-7 m/s^2) are drag-sized; they add a 2.1 m wiggle to the mean SMA.
- Detection unchanged (F1 = 1.0); burn period 3.9034 d instead of 3.9051 d.
- Split-law forecast 66 -&gt; 132 min at 360 d; subtracting a catalogue Moon/Sun/SRP model gives 86 min.
- Even the periodic schedule drifts (45 min): a constant-rate law cannot follow periodic modulation.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Fast mean-element model calibrated on the full run (period within 0.01%) for hundreds of scenarios.
- Space-weather drag: periodic schedule 1642 min at 15 d; law + drag proxy 730 min; perfect forecast 164 min.
- Screening: along-track error at 7 d drag-only 396 km vs 11.9 km with the learned law + space weather.
- Tasking: custody lost after a burn 74% (1 random obs/day) -&gt; 15-19% with the predicted burn in the catalogue.
- Conformal 90% intervals cover 93-99% of new burns.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PCA frame for the coast: sparse (4 vs 42 terms) but linear models drift tens of km per day.
- Physics library [r/r^3, a_J2, -|v|v]: 0.65 km after 10 days; mu to 2e-8 - the physical frame wins.
- Joint regression: biased by mislabelled ramp samples (T -7.6%).
- k-means: two clusters split the coast cloud under noise (F1 0.001).
- Exponential-density library: physically plausible but wrong here (51 km after a year).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Scores combine accuracy, robustness to noise and sampling, cost and whether uncertainty is reported.
- Drag: EKF on sparse data, energy / mean-SMA coast fit on dense data; avoid FD on noisy data.
- Detection: GMM / Bayesian GMM; derivative SG up to 2 min, propagation feature to 20 min.
- Laws: split learning on clean arcs + hysteresis edges; GP or sigmoid for the thrust shape.
- Forecast: law + space-weather proxy with conformal intervals; a periodic schedule only for constant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Benefit: physics-based features make an unsupervised clusterer near perfect; splitting removes bias.
- Benefit: uncertainty everywhere it matters (BINDy, GP, conformal intervals).
- Improve: edges dominate the error; event-driven forecasts with modelled third bodies and space weather.
- Improve: real ephemerides, multi-seed confidence intervals, angles-only orbit determination.
- Practice: known-truth tests, oracle swaps, event scoring, walk-forward tests, closed-form checks,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Inputs are full states at 6 s with 0.1 m / 0.5 mm/s noise: far better than real tracking.
- Core run has constant density; space weather is modelled, not measured.
- Extensions use a calibrated mean-element model rather than full integration.
- No real ephemerides analysed yet (OEM reader exists); no angles-only orbit determination.
- Next: real Starlink OEMs, event-driven forecasts with modelled perturbations, closed loop with screening and tasking.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smooth, ODE-friendly deadband controller reproduces the brief's Figure 1 and passes 16 closed-form checks.
- Burns are detected perfectly (92/92, 0 false) from 6-s to 10-min data with a GMM on physics-based features.
- Drag and thrust are learned to &lt; 0.1% when the problem is split onto clean arcs; memory (hysteresis) is essential.
- Year-ahead forecast ~1 hour with constant drag; edges dominate the remaining error.
- With variable drag and third bodies, a learned law with a drag proxy beats a periodic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Brief and SDA context: UKSA challenge, Vallado 2025, Marsillach and Holzinger 2021, Bar-Shalom 2011.
- Dynamics and solvers: Vallado 2013; Montenbruck and Gill 2000; Petzold 1983 (LSODA).
- Signal processing and detection: Savitzky and Golay 1964; Schafer 2011; Dempster et al. 1977 (EM).
- Learning: Brunton et al. 2016 (SINDy); Tipping 2001 (ARD); Fung, Fasel and Juniper 2024 (BINDy); Rasmussen and Williams 2006.
- Full numbered list with URLs is in the written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Invite questions; 15 minutes reserved.
- Likely topics: why LSODA, why the mean SMA, how the GMM labels burns without supervision.
- Likely topics: why split learning beats joint regression; why edges dominate the forecast error.
- Likely topics: realism of the noise model and how the method would run on real ephemerides.
- Point to the report sections and the code modules for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Manoeuvre Pattern-of-Life Prediction for Space Domain Awareness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1127455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station-keeping control law from noisy tracking data: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burn detection, SINDy / BINDy, Gaussian processes and forecasting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UROP project, Imperial College London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presentation + 15 min questions</a:t>
            </a:r>
            <a:endParaRPr lang="en-US" sz="1600" dirty="0"/>
          </a:p>
        </p:txBody>
      </p:sp>
      <p:pic>
        <p:nvPicPr>
          <p:cNvPr id="6" name="Image 0" descr="E:/Y3/UROP_Lloyd_Fung/Week 5/Final/satellite_deadband/satellite_deadband/outputs/report/step21_deep_dive/step21_saw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324996"/>
            <a:ext cx="5852160" cy="34424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52160" y="5989320"/>
            <a:ext cx="58521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simulated deadband sawtooth: mean SMA vs time (20 days)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the analysis chain, in process order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Simulate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(physics + deadband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ODE)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423160" y="1988820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278892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Natural dynamics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(c_d, J2: FD, energy,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EKF, spectra)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988820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12064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 burns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(unmodelled accel.,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filter, GMM)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86600" y="1988820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745236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Learn laws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(SINDy / BINDy,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GP, hysteresis)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418320" y="1988820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9784080" y="1371600"/>
            <a:ext cx="1965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Forecast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burns,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3017520"/>
            <a:ext cx="8961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space weather, tracking passes, conjunction screening, sensor tasking, fleets, GEO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241280" y="2606040"/>
            <a:ext cx="0" cy="4114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 Physics and simulation code (slides 3-14)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 Estimating drag and detecting burns: GMM (slides 15-22)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- Learning the thrust, natural and switching laws: GP, SINDy, BINDy (slides 23-26)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- Forecasting, error budget, robustness, all forces, extensions (slides 27-31)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- Ranking, holistic assessment, limitations, conclusions (slides 32-37)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predict future manoeuvres, not just detect past ones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84632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Space Agency challenge: Manoeuvre Pattern of Life Prediction for SDA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Unpredicted burns break three SDA functions: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 screening (predicted orbits wrong)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association (observations not linked)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scheduling (uncertainty must be re-acquired)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can the control law be learned from noisy data well enough to forecast the next burns?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known-truth simulation + scored chain of estimators</a:t>
            </a:r>
            <a:endParaRPr lang="en-US" sz="1600" dirty="0"/>
          </a:p>
        </p:txBody>
      </p:sp>
      <p:pic>
        <p:nvPicPr>
          <p:cNvPr id="5" name="Image 0" descr="E:/Y3/UROP_Lloyd_Fung/Week 5/Final/satellite_deadband/satellite_deadband/outputs/report/step5_deadband/smooth_deadband_mean_sma_mi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92545"/>
            <a:ext cx="6245352" cy="433011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0" y="6217920"/>
            <a:ext cx="624535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 of the brief's Figure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model: forces on a 550 km Starlink-like orbit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12064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dr/dt = 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dv/dt = -mu r / r^3 + a_J2 + a_drag + a_Moon + a_Sun + a_SRP + a_thrust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a_drag = -c_d |v| v ;  a_J2 = -grad U_J2,  U_J2 = (mu J2 Re^2 / 2r^3)(3 sin^2(lat) - 1)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bodies: tidal form  mu_b [ (r_b - r)/|r_b - r|^3 - r_b/|r_b|^3 ]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DU = 6371 km, TU = 13,713.44 s (non-dimensional state ~ 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(2e-4 m/s^2) is 250x drag but 60x below J2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1_dynamics/step1_force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141982"/>
            <a:ext cx="6062472" cy="30312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6217920"/>
            <a:ext cx="60624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acceleration of each force (log scale)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force model (deadband/physics.py)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722376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gravity_accel(r):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"""Two-body gravity."""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-MU * r / np.linalg.norm(r) ** 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drag_accel(v, cd):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"""Quadratic drag opposing the velocity: -cd * |v| * v."""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-cd * np.linalg.norm(v) * 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j2_accel(r, j2=J2):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"""Acceleration from Earth's oblateness (J2)."""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radius = np.linalg.norm(r)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z = 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earth_radius = EARTH_EQUATORIAL_RADIUS_KM / DU   # J2 reference radius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 = 1.5 * j2 * MU * earth_radius**2 / radius**4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z_ratio_sq = (z / radius) **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factor *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/ radius * (5 * z_ratio_sq - 1),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/ radius * (5 * z_ratio_sq - 1),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 / radius * (5 * z_ratio_sq - 3),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143000"/>
            <a:ext cx="3886200" cy="5349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functions: easy to test and to vectorise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Non-dimensional state keeps all components ~1 (good for solvers and least squares)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reference radius = equatorial 6378.137 km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a_J2 = -grad U_J2 (unit test)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Moon, Sun, SRP: same pattern in perturbations.py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J2: nodal regression against the analytical rate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12064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node: Omega = atan2(h_x, -h_y),  h = r x 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(secular J2):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dOmega/dt = -(3/2) n J2 (Re / p)^2 cos i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Omega_th(t) = Omega(0) + integral of dOmega/dt along the run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sqrt(mu / a^3), one-orbit means of a and i, p ~ a (e ~ 1e-4)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after 400 days: 0.04%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-4.526 → -4.642 deg/day as drag lowers the free orbit by 51 km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1_dynamics/panels/step1_j2_check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48096"/>
            <a:ext cx="6062472" cy="42190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6217920"/>
            <a:ext cx="60624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RAAN vs integrated J2 theory, 400 days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solvers: DOP853 for free flight, LSODA for the controller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676656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free flight (perturbations.py): explicit Runge-Kutta 8(5,3)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= solve_ivp(full_rhs(cd, forces), [t_eval[0], t_eval[-1]], state0,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t_eval=t_eval, method="DOP853",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rtol=tolerance, atol=tolerance)      # 1e-10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controlled run (smooth_controller.py): stiff / non-stiff switching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solve_ivp(rhs, [0.0, t_end], state0, method="LSODA",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rtol=tolerance, atol=tolerance,        # 1e-11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dense_output=True)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57600"/>
            <a:ext cx="676656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DOP853: high order, efficient for smooth free flight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LSODA: Adams (non-stiff) &lt;-&gt; BDF (stiff) chosen automatically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Stiffness: 60 s switch time and 5 m switch width at each burn edge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(2 days, vs 1e-13 reference): 0.27 m / 28 m / 0.013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Week 5 run: 55,138 steps, 157,404 RHS calls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1_dynamics/step1_solver_cross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571750"/>
            <a:ext cx="4343400" cy="21717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06640" y="6217920"/>
            <a:ext cx="4343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cross-check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controller watches the J2 mean SMA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786384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j2_potential(r, j2=J2):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"""Potential energy per unit mass from J2 (its gradient is physics.j2_accel)."""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radius = np.linalg.norm(r)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earth_radius = EARTH_EQUATORIAL_RADIUS_KM / DU   # J2 reference radius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MU * j2 * earth_radius**2 / (2 * radius**3) * (3 * (r[2] / radius) ** 2 - 1)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mean_sma(r, v, j2=J2):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"""SMA from the total energy (kinetic + point-mass + J2 potential). Constant under J2."""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energy = np.dot(v, v) / 2 - MU / np.linalg.norm(r) + j2_potential(r, j2)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-MU / (2 * energy)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23360"/>
            <a:ext cx="786384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a_osc = -mu / (2 eps), eps = v^2/2 - mu/r: swings 12.2 km per orbit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a_mean = -mu / (2 eps_J2), eps_J2 = eps + U_J2: flat between burns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check: 12.17 vs 12.22 km (0.4%)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5_deadband/panels/smooth_j2_mean_vs_osculating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541463"/>
            <a:ext cx="3319272" cy="22322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6217920"/>
            <a:ext cx="33192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Osculating vs mean SMA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deadband law: a piecewise switch made smooth with sigmoids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1124712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s+ = 1 if a &lt;= a_L;  0 if a &gt;= a_U;  s- otherwise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Smooth: tau ds/dt = sigma(a_L - a)(1 - s) - sigma(a - a_U) s + lambda s(1 - s)(2s - 1)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a_thrust = T theta(s) v_hat,  theta(s) = sigma((s - 0.9) / 0.02)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a_L = 6921.9 km, a_U = 6922.4 km, w = 5 m, tau = 60 s, lambda = 1, T = 2e-4 m/s^2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1_deep_dive/step21_swi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08599"/>
            <a:ext cx="5577840" cy="328108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21792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(dotted) vs tanh switches</a:t>
            </a:r>
            <a:endParaRPr lang="en-US" sz="1100" dirty="0"/>
          </a:p>
        </p:txBody>
      </p:sp>
      <p:pic>
        <p:nvPicPr>
          <p:cNvPr id="7" name="Image 1" descr="E:/Y3/UROP_Lloyd_Fung/Week 5/Final/satellite_deadband/satellite_deadband/outputs/report/step21_deep_dive/step21_throt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908599"/>
            <a:ext cx="5577840" cy="328108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153912" y="621792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and latch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deadband logic inside the ODE (smooth_controller.py)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786384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rising_switch(x, width):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"""Smooth step: ~0 for x &lt;&lt; -width, 1/2 at x = 0, ~1 for x &gt;&gt; width."""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0.5 * (1 + np.tanh(x / width))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throttle(s):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"""How open the thruster is (0..1): opens steeply as s passes THROTTLE_OPENS_AT."""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rising_switch(s - THROTTLE_OPENS_AT, THROTTLE_WIDTH)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a_thrust(v, s, thrust_accel=THRUST_ACCEL):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"""Thrust acceleration: along the velocity, magnitude THRUST_ACCEL * throttle(s)."""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thrust_accel * throttle(s) * v / np.linalg.norm(v)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thruster_state_rate(sma, s, sma_width=SWITCH_SMA_WIDTH, switch_time=SWITCH_TIME,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a_lower=SMOOTH_A_LOWER, a_upper=SMOOTH_A_UPPER):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"""ds/dt for the thruster on/off state 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turn_on = rising_switch(a_lower - sma, sma_width)    # 1 once the SMA is below the lower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turn_off = rising_switch(sma - a_upper, sma_width)   # 1 once the SMA is above the upper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latch = LATCH_GAIN * s * (1 - s) * (2 * s - 1)       # holds s at 0 or 1 inside the band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(turn_on * (1 - s) - turn_off * s + latch) / switch_time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143000"/>
            <a:ext cx="3246120" cy="5349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sigmoids replace three 'if' statements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turn_on / turn_off: 5 m wide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latch: zeros at s = 0, 1/2,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throttle: opens over s = 0.88-0.92 (~30 s ramp)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THROTTLE_OPENS_AT = 0.9, THROTTLE_WIDTH = 0.02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7-state right-hand side f(t, [r, v, s])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786384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rhs(t, state):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r, v, s = state[0:3], state[3:6], state[6]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accel = gravity_accel(r) + drag_accel(v, cd) + j2_accel(r, j2)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extra_forces: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clock = t + t_offset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"Moon" in extra_forces: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accel = accel + third_body_accel(r, moon_position(clock), MU_MOON)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"Sun" in extra_forces or "SRP" in extra_forces: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r_sun = sun_position(clock)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"Sun" in extra_forces: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accel = accel + third_body_accel(r, r_sun, MU_SUN)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"SRP" in extra_forces: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accel = accel + srp_accel(r, r_sun)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ds_dt = 0.0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controlled:   # a fixed choice of model, not a switch inside the dynamics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accel = accel + a_thrust(v, 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sma = mean_sma(r, v, j2) if use_mean_sma else osculating_sma(r, v)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ds_dt = thruster_state_rate(sma, s, sma_width, switch_time, a_lower, a_upper)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np.concatenate([v, accel, [ds_dt]])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143000"/>
            <a:ext cx="3246120" cy="5349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[x, y, z, vx, vy, vz, s]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block + control block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bodies use t + t_offset (10-day chunks keep the true Moon / Sun phase)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'if controlled' is a model choice made once, not a discontinuity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400 days of data: chunked integration and results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852160" cy="40233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_controlled(name, extra_forces=()):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build():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 = SAMPLE_STEP_S * SECONDS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chunk = from_days(CHUNK_DAYS)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 = smooth_initial_state()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times, samples = [],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range(int(np.ceil(LONG_DAYS / CHUNK_DAYS))):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sim = simulate_smooth_deadband(chunk, state0=state,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extra_forces=extra_forces,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t_offset=k * chunk)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local = np.arange(0, chunk, step)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times.append(local + k * chunk)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samples.append(sim.sample(local))     # dense output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 = sim.states[:, -1]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dict(t=np.concatenate(times),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states=np.concatenate(samples, axis=1))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_cached(name, build)                    # .cache/*.npz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0"/>
            <a:ext cx="58521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burns, period 3.9051 d, 22.8 min, 0.273 m/s each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kept: [6921.904, 6922.402] km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days 0-40, TEST days 40-400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21_deep_dive/step21_sawtoo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116567"/>
            <a:ext cx="5239512" cy="308206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92240" y="6217920"/>
            <a:ext cx="52395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Mean-SMA sawtooth, first 20 days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as a two-state system: hysteresis in (a, s)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57200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da/dt = -c_d D(a,v) + T theta(s) B(a,v)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(2a^2/mu)|v|^3,  B = (2a^2/mu)|v|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ds/dt = [sigma(a_L - a)(1 - s) - sigma(a - a_U) s + lambda s(1 - s)(2s - 1)] / tau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stable branches: coast -5.3 m/h, burn +1311 m/h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Memory-less s = f(a): balanced accuracy 0.50; hysteresis edges: 1.00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1_deep_dive/step21_hysteresis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13155"/>
            <a:ext cx="6611112" cy="388888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6217920"/>
            <a:ext cx="66111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field (directions) and one true cycle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numbers against closed-form physics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12064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decay: da/dt = -2 c_d sqrt(mu a): 5.333 vs 5.335 m/h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climb: 2aT/v - k: 1308 vs 1311 m/h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Burn: Delta-v / T = 1370 vs 1368 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w/k + t_b = 3.9051 d (exact)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swing: 3 J2 Re^2 sin^2 i / a = 12.17 vs 12.22 km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burn drift: (3/2) n Delta-a t = 495 km/week (upper bound; simulated 396)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 checks pass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0_pipeline/step20_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73625"/>
            <a:ext cx="6062472" cy="41679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6217920"/>
            <a:ext cx="60624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difference, formula vs measured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estimating the drag coefficient c_d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84632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regression: r'' = mu shapes . coefficients (least squares, unit-scaled columns)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method: da/dt = -(2a^2/mu) c_d |v|^3, fit one slope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Shooting: fit the whole trajectory (Levenberg-Marquardt)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EKF: state (r, v, c_d), STM propagation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c_d error at 10 m noise, 15 d: FD 6.3%, energy 0.035%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(10-min data): 0.04% / 0.01% after 15 / 30 days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3_drag_noise/panels/step3_noise_estimators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513829"/>
            <a:ext cx="3154680" cy="22875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94960" y="6217920"/>
            <a:ext cx="3154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regression c_d error vs noise</a:t>
            </a:r>
            <a:endParaRPr lang="en-US" sz="1100" dirty="0"/>
          </a:p>
        </p:txBody>
      </p:sp>
      <p:pic>
        <p:nvPicPr>
          <p:cNvPr id="7" name="Image 1" descr="E:/Y3/UROP_Lloyd_Fung/Week 5/Final/satellite_deadband/satellite_deadband/outputs/report/step3_drag_noise/panels/step3_noise_estimators_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513829"/>
            <a:ext cx="3154680" cy="228754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95360" y="6217920"/>
            <a:ext cx="31546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method c_d error vs noise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the unmodelled acceleration (subtraction)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694944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build_features(r, v, step_s, window=None, order=None, method=None):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step_s *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window, order = window or tuned("sg_window"), order or tuned("sg_order")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r_second_derivative = savgol_filter(r, window, order, deriv=2, delta=h, axis=1)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v_first_derivative = savgol_filter(v, window, order, deriv=1, delta=h, axis=1)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modelled = known_accel(r)                        # gravity + J2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from_r = (r_second_derivative - modelled) * ACCEL_UNIT_MS2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from_v = (v_first_derivative - modelled) * ACCEL_UNIT_MS2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along = np.sum(from_v * v, axis=0) / np.linalg.norm(v, axis=0)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Features(accel_from_r=from_r, accel_from_v=from_v, along_track=along)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23360"/>
            <a:ext cx="694944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a_u = dv/dt (measured) - [ -mu r / r^3 + a_J2 ]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a_u ~ drag (8e-7) + thrust (2e-4) + noise (4.6e-6) + numerics (1e-8)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Velocity-based (v') features: r'' of noisy positions is pure noise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21_deep_dive/step21_subtraction_casc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412402"/>
            <a:ext cx="4233672" cy="24903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6217920"/>
            <a:ext cx="42336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every term and error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derivative: Savitzky-Golay filtering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84632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y'_k = sum_j c_j y_(k+j),  c = row 1 of (A^T A)^-1 A^T,  A_ji = (j h)^i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H(f) = sum_j c_j exp(2 pi i f j h);  ideal = 2 pi i 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for polynomials up to order 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61 samples (6 min), order 5 (bias-variance)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~ 2.8 min period; orbit and J2 lines far below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differences keep amplifying noise to Nyquist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1_deep_dive/step21_sg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3838"/>
            <a:ext cx="6336792" cy="37275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94960" y="6217920"/>
            <a:ext cx="633679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response of derivative filters (6-s data)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 physics-based change of basis (x1, x2)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57200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= ln |a_u|  (how much)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= a_u . v_hat / 1e-4 m/s^2  (which way)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|x2| &lt;= exp(x1) / 1e-4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Burns: x2 ~ 2, all along-track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Coast: x2 ~ 0; its mean -0.009e-4 m/s^2 is the drag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~4 decades apart in |a|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1_deep_dive/step21_basis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13155"/>
            <a:ext cx="6611112" cy="388888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6217920"/>
            <a:ext cx="66111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in the (x1, x2) basis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Gaussian mixture and the burn rule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13816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mixture_burn_components(model, n_sigma=3.0):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"""The heaviest component is coast. A component is burn if its mean log|v'|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sits more than n_sigma coast standard deviations above the coast mean."""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coast = int(np.argmax(model.weights_))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coast_sd = np.sqrt(np.atleast_2d(model.covariances_[coast])[0, 0])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model.means_[:, 0] &gt; model.means_[coast, 0] + n_sigma * coast_sd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fit_gmm(X_train, n_components=None):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n_components = n_components or tuned("gmm_components")       #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GaussianMixture(n_components=n_components, n_init=3, random_state=0).fit(X_train)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burn = mixture_burn_components(model)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lambda X: burn[model.predict(X)].astype(int), 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group_into_events(flags, max_gap=MAX_GAP_SAMPLES, min_samples=MIN_EVENT_SAMPLES):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"""Fill short gaps inside runs, then drop runs shorter than min_samples."""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 = np.asarray(flags, dtype=int).copy()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first, last in _runs(1 - events):                 # runs of 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is_inside = first &gt; 0 and last &lt; len(events) - 1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is_inside and last - first + 1 &lt;= max_gap: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events[first:last + 1]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first, last in _runs(events):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last - first + 1 &lt; min_samples: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events[first:last + 1]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events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778240" y="1143000"/>
            <a:ext cx="2971800" cy="5349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EM: E-step gamma_ik = pi_k N_k / sum_j pi_j N_j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M-step: pi_k, mu_k, Sigma_k from weighted samples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P(burn | x) = sum of burn responsibilities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4, n_init = 3, 20k TRAIN samples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max gap 2, min length 10 samples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results: four components, perfect event detection</a:t>
            </a:r>
            <a:endParaRPr lang="en-US" sz="2800" dirty="0"/>
          </a:p>
        </p:txBody>
      </p:sp>
      <p:pic>
        <p:nvPicPr>
          <p:cNvPr id="4" name="Image 0" descr="E:/Y3/UROP_Lloyd_Fung/Week 5/Final/satellite_deadband/satellite_deadband/outputs/report/step20_pipeline/step20_gmm_hist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" y="1097280"/>
            <a:ext cx="5410200" cy="3246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along x1 (log density)</a:t>
            </a:r>
            <a:endParaRPr lang="en-US" sz="1100" dirty="0"/>
          </a:p>
        </p:txBody>
      </p:sp>
      <p:pic>
        <p:nvPicPr>
          <p:cNvPr id="6" name="Image 1" descr="E:/Y3/UROP_Lloyd_Fung/Week 5/Final/satellite_deadband/satellite_deadband/outputs/report/step20_pipeline/step20_gmm_posteri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333500"/>
            <a:ext cx="5577840" cy="4648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153912" y="621792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burn: signal (top) and P(burn) (bottom)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5577840" cy="1783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92/92 burns, 0 false events, F1 = 1.0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weight 0.0039 vs duty cycle 0.0041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F1 0.001 with noise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coast cloud is fat-tailed, and better mixtures</a:t>
            </a:r>
            <a:endParaRPr lang="en-US" sz="2800" dirty="0"/>
          </a:p>
        </p:txBody>
      </p:sp>
      <p:pic>
        <p:nvPicPr>
          <p:cNvPr id="4" name="Image 0" descr="E:/Y3/UROP_Lloyd_Fung/Week 5/Final/satellite_deadband/satellite_deadband/outputs/report/step21_deep_dive/step21_coast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1239"/>
            <a:ext cx="5577840" cy="328108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x1 with Poisson error bars</a:t>
            </a:r>
            <a:endParaRPr lang="en-US" sz="1100" dirty="0"/>
          </a:p>
        </p:txBody>
      </p:sp>
      <p:pic>
        <p:nvPicPr>
          <p:cNvPr id="6" name="Image 1" descr="E:/Y3/UROP_Lloyd_Fung/Week 5/Final/satellite_deadband/satellite_deadband/outputs/report/step21_deep_dive/step21_mixture_f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171239"/>
            <a:ext cx="5577840" cy="3281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153912" y="452628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vs log-chi vs Student-t mixtures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11274552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1280160"/>
                <a:gridCol w="1828800"/>
                <a:gridCol w="23774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log-lik /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GMM, K = 4 (used)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-67,079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GMM, K =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-68,454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log-chi coast + Gaussian burn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-67,804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Student-t coast + Gaussian burn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-60,509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robustness: noise and sampling step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852160" cy="38404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propagate_rk4(r, v, h, substep):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"""Every column of (r, v) propagated by h under gravity + J2 only."""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max(1, int(np.ceil(h / substep)))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 = h /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k1r, k1v = v, known_accel(r)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k2r, k2v = v + 0.5 * dt * k1v, known_accel(r + 0.5 * dt * k1r)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k3r, k3v = v + 0.5 * dt * k2v, known_accel(r + 0.5 * dt * k2r)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k4r, k4v = v + dt * k3v, known_accel(r + dt * k3r)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 + dt / 6 * (k1r + 2 * k2r + 2 * k3r + k4r)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v + dt / 6 * (k1v + 2 * k2v + 2 * k3v + k4v)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r, 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feature: a = (v[k+1] - v_propagated[k -&gt; k+1]) / 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120640"/>
            <a:ext cx="5852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feature: 6 s - 2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feature: ~1 - 20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chain: F1 = 1.0 from 6 s to 10 min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6_classification/panels/step6_step_stress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573" y="1097280"/>
            <a:ext cx="3407406" cy="2377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3474720"/>
            <a:ext cx="533095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derivative feature</a:t>
            </a:r>
            <a:endParaRPr lang="en-US" sz="1100" dirty="0"/>
          </a:p>
        </p:txBody>
      </p:sp>
      <p:pic>
        <p:nvPicPr>
          <p:cNvPr id="8" name="Image 1" descr="E:/Y3/UROP_Lloyd_Fung/Week 5/Final/satellite_deadband/satellite_deadband/outputs/report/step6_classification/panels/step6_step_stress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573" y="3840480"/>
            <a:ext cx="3407406" cy="23774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0" y="6217920"/>
            <a:ext cx="533095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propagation feature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3a: the thrust law from repetition (GP and sigmoid)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852160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fit_thrust_law(stack, max_points=GP_MAX_POINTS):      # 1500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offsets = np.tile(stack.offsets_s, len(stack.windows))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stack.windows.ravel()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 = np.random.default_rng(0).choice(offsets.size,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size=min(max_points, offsets.size), replace=False)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 = np.std(values)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kernel = ConstantKernel(1.0) * RBF(length_scale=60.0)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+ WhiteKernel(noise_level=0.5)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 = GaussianProcessRegressor(kernel=kernel, normalize_y=True,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random_state=0)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gp.fit(offsets[pick, None], values[pick] / scale)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mean, std = gp.predict(stack.offsets_s[:, None], return_std=True)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72000"/>
            <a:ext cx="585216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GP: no assumed shape, uncertainty band, O(n^3) so subsample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sigmoid: same form as the simulator law, 6 parameters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vs truth: GP 1.03e-5, sigmoid 0.88e-5 m/s^2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21_deep_dive/step21_thrust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89673"/>
            <a:ext cx="5330952" cy="31358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6217920"/>
            <a:ext cx="533095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burns: truth, GP, sigmoid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3b: SINDy and BINDy for the rate laws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630936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stlsq(theta, target, threshold=None, iterations=10):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"""Sequentially thresholded least squares on unit-scaled columns."""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threshold = threshold if threshold is not None else tuned("stlsq_threshold")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 = np.linalg.norm(theta, axis=0)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 = scale ==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 = np.where(empty, 1.0, scale)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theta / scale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= ~empty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xi = np.zeros(X.shape[1])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range(iterations):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xi[:]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xi[active] = np.linalg.lstsq(X[:, active], target, rcond=None)[0]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new_active = np.abs(xi) &gt;= threshold * np.max(np.abs(xi))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np.array_equal(new_active, active):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 = new_active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xi / scale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_ard(X, y):          # BINDy-style: posterior mean and std of every coefficient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scale = np.sqrt(np.mean(X**2, axis=0))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y_scale = np.std(y) or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ARDRegression(fit_intercept=False).fit(X / scale, y / y_scale)</a:t>
            </a:r>
            <a:endParaRPr lang="en-US" sz="900" dirty="0"/>
          </a:p>
        </p:txBody>
      </p:sp>
      <p:pic>
        <p:nvPicPr>
          <p:cNvPr id="5" name="Image 0" descr="E:/Y3/UROP_Lloyd_Fung/Week 5/Final/satellite_deadband/satellite_deadband/outputs/report/step9_sindy_control_law/step9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450592"/>
            <a:ext cx="4828032" cy="24140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03720" y="6217920"/>
            <a:ext cx="482803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SINDy / BINDy coefficients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thrust and natural laws together or apart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280160"/>
                <a:gridCol w="1371600"/>
                <a:gridCol w="1463040"/>
                <a:gridCol w="146304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c_d /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/ 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[d]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15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120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360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whole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1668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natural 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thrust known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both, separately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566160"/>
            <a:ext cx="45720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learning removes the edge-leakage bias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c_d matters more than knowing 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coast is 99.6% of every cycle</a:t>
            </a:r>
            <a:endParaRPr lang="en-US" sz="1500" dirty="0"/>
          </a:p>
        </p:txBody>
      </p:sp>
      <p:pic>
        <p:nvPicPr>
          <p:cNvPr id="6" name="Image 0" descr="E:/Y3/UROP_Lloyd_Fung/Week 5/Final/satellite_deadband/satellite_deadband/outputs/report/step19_sindy_split/step19_parame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3429000"/>
            <a:ext cx="5577840" cy="27889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120640" y="6217920"/>
            <a:ext cx="66111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c_d and T per scenario (BINDy +-2 sigma)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law and the forecast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6675120" cy="5349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hysteresis_states(a, lower, upper, s0=0):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"""The deadband WITH memory: on below lower, off above upper, else keep."""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np.zeros(len(a), dtype=int)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s0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value in enumerate(a):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value &lt;= lower: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value &gt;= upper: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s[i] =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law_forecast(law, shapes, start_day):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D_bar, B_bar = shapes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 = law.upper_km - law.lower_km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coast_rate = law.cd * D_bar * DU / TU * DAY                 # km/day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burn_rate = (law.T * B_bar - law.cd * D_bar) * DU / TU * 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 = width / coast_rate + width / burn_rate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 = start_day + width / coast_rate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first + period * np.arange(0, int(400 / period) + 2), period</a:t>
            </a:r>
            <a:endParaRPr lang="en-US" sz="1000" dirty="0"/>
          </a:p>
        </p:txBody>
      </p:sp>
      <p:pic>
        <p:nvPicPr>
          <p:cNvPr id="5" name="Image 0" descr="E:/Y3/UROP_Lloyd_Fung/Week 5/Final/satellite_deadband/satellite_deadband/outputs/report/step20_pipeline/step20_foreca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318918"/>
            <a:ext cx="4462272" cy="26773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69480" y="6217920"/>
            <a:ext cx="44622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Forecasters on the fully learned chain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error budget: which stage limits the forecast?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57200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learned: 66 min at 360 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true edges: 21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true labels: 47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true c_d: 84 min (compensating errors)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true: 1.4 min (sanity check)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learned to ~2 m (0.4% of the band) = 22 min of coast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0_pipeline/step20_error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674266"/>
            <a:ext cx="6611112" cy="396666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6217920"/>
            <a:ext cx="661111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with each stage made perfect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robustness of the whole chain (6 s to 10 min)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85800"/>
                <a:gridCol w="868680"/>
                <a:gridCol w="822960"/>
                <a:gridCol w="100584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c_d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360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360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+13.9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E:/Y3/UROP_Lloyd_Fung/Week 5/Final/satellite_deadband/satellite_deadband/outputs/report/step20_pipeline/step20_sampling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40610"/>
            <a:ext cx="5056632" cy="3033979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675120" y="6217920"/>
            <a:ext cx="505663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Year-ahead error vs sampling step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force in the loop: Moon, Sun and SRP</a:t>
            </a:r>
            <a:endParaRPr lang="en-US" sz="2800" dirty="0"/>
          </a:p>
        </p:txBody>
      </p:sp>
      <p:pic>
        <p:nvPicPr>
          <p:cNvPr id="4" name="Image 0" descr="E:/Y3/UROP_Lloyd_Fung/Week 5/Final/satellite_deadband/satellite_deadband/outputs/report/step22_full_forcing/step22_sma_sign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6959"/>
            <a:ext cx="5577840" cy="328108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61772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SMA minus its trend on a coast arc</a:t>
            </a:r>
            <a:endParaRPr lang="en-US" sz="1100" dirty="0"/>
          </a:p>
        </p:txBody>
      </p:sp>
      <p:pic>
        <p:nvPicPr>
          <p:cNvPr id="6" name="Image 1" descr="E:/Y3/UROP_Lloyd_Fung/Week 5/Final/satellite_deadband/satellite_deadband/outputs/report/step22_full_forcing/step22_forecast_mode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216959"/>
            <a:ext cx="5577840" cy="328108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153912" y="4617720"/>
            <a:ext cx="55778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forecaster at 360 days, three set-ups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2064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2743200"/>
                <a:gridCol w="3044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360-day onset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J2 + drag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forces, J2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forces, catalogue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law (SINDy 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coast curve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operations: space weather, screening and tasking</a:t>
            </a:r>
            <a:endParaRPr lang="en-US" sz="2800" dirty="0"/>
          </a:p>
        </p:txBody>
      </p:sp>
      <p:pic>
        <p:nvPicPr>
          <p:cNvPr id="4" name="Image 0" descr="E:/Y3/UROP_Lloyd_Fung/Week 5/Final/satellite_deadband/satellite_deadband/outputs/report/step10_space_weather/panels/step10_forecast_horizons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96492"/>
            <a:ext cx="3794760" cy="25220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4663440"/>
            <a:ext cx="3794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Space-weather drag: forecast error</a:t>
            </a:r>
            <a:endParaRPr lang="en-US" sz="1100" dirty="0"/>
          </a:p>
        </p:txBody>
      </p:sp>
      <p:pic>
        <p:nvPicPr>
          <p:cNvPr id="6" name="Image 1" descr="E:/Y3/UROP_Lloyd_Fung/Week 5/Final/satellite_deadband/satellite_deadband/outputs/report/step12_conjunction/step12_position_err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03400"/>
            <a:ext cx="3794760" cy="2108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206240" y="4663440"/>
            <a:ext cx="3794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Along-track error vs prediction time</a:t>
            </a:r>
            <a:endParaRPr lang="en-US" sz="1100" dirty="0"/>
          </a:p>
        </p:txBody>
      </p:sp>
      <p:pic>
        <p:nvPicPr>
          <p:cNvPr id="8" name="Image 2" descr="E:/Y3/UROP_Lloyd_Fung/Week 5/Final/satellite_deadband/satellite_deadband/outputs/report/step13_tasking/step13_custo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08810"/>
            <a:ext cx="3794760" cy="189738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046720" y="4663440"/>
            <a:ext cx="37947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lost after a burn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457200" y="5029200"/>
            <a:ext cx="11274552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drag changes the burn interval, not the edges: the learned law wins over a schedule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dangerous conjunctions at 1 day: 68% (drag-only) → 25% (best model)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tracking passes, several control laws, fleet change detection, GEO station keeping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worth reporting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84632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SINDy on the coasting state: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modes hold 99.9% of variance (one oscillator pair)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dynamics sparse, eigenvalues = orbital rate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linear change of frame cannot fix nonlinear physics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library: 0.65 km after 10 days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regression biased; k-means fails; memory-less switching fails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forecasts, not training fit, decide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1_deep_dive/step21_pca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3838"/>
            <a:ext cx="6336792" cy="37275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94960" y="6217920"/>
            <a:ext cx="633679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learned in different frames: position error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ranking by stage of the pipeline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92608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c_d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EKF (sparse data); energy / mean-SMA coast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Shooting; spectroscopy (survey)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 regression on noisy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Savitzky-Golay (&lt;= 2 min); propagation (2-20 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High-order FD on clean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2nd-order FD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/ Bayesian GMM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 threshold; log-chi mixture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k-means; Isolation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Thrust 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regression on burn arcs + sigmoid shape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through stacked burns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on coast arcs; physics-shape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BINDy for uncertainty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Wrong-physics or linear-frame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Hysteresis edges (accuracy 1.00)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Memory-less sigmoid (0.50)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+ space-weather proxy + conformal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coast curve (fine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schedule under variable drag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assessment: benefits, improvements, best practices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6301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3630168" cy="4572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features: 4 decades separation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detection, F1 = 1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learning removes bias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BINDy, GP, conformal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laws (edges, c_d, T)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279392" y="1188720"/>
            <a:ext cx="36301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79392" y="1920240"/>
            <a:ext cx="3630168" cy="4572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edges with uncertainty (largest error)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forecast with third bodies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Log-chi mixture as default detector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ephemerides and passes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confidence intervals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01584" y="1188720"/>
            <a:ext cx="363016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01584" y="1920240"/>
            <a:ext cx="3630168" cy="4572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Known-truth simulation + oracle swaps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event, not per sample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/ backward testing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tuning per sampling step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checks + 53 unit tests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02920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Idealised measurements (full state, 6 s, small noise)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density in the core run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Mean-element model for steps 10-16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noise seed per pipeline study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ranking is a judgement from the numbers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ephemerides (CCSDS OEM)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forecast with modelled third bodies and density</a:t>
            </a:r>
            <a:endParaRPr lang="en-US" sz="15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forecasts to screening and sensor tasking</a:t>
            </a:r>
            <a:endParaRPr lang="en-US" sz="1500" dirty="0"/>
          </a:p>
        </p:txBody>
      </p:sp>
      <p:pic>
        <p:nvPicPr>
          <p:cNvPr id="5" name="Image 0" descr="E:/Y3/UROP_Lloyd_Fung/Week 5/Final/satellite_deadband/satellite_deadband/outputs/report/step20_pipeline/step20_sampling_detection_ed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838858"/>
            <a:ext cx="6062472" cy="363748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6217920"/>
            <a:ext cx="60624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the weak point at coarse sampling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48640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verified: J2 to 0.04%, 16/16 checks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F1 = 1.0, 6 s - 10 min, 0.25-8x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Laws: c_d +0.03%, T -0.005%, edges ~2 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66 min after a year (constant drag); edges dominate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screening misses 68% → 25%; custody lost 74% → 15%</a:t>
            </a:r>
            <a:endParaRPr lang="en-US" sz="1600" dirty="0"/>
          </a:p>
        </p:txBody>
      </p:sp>
      <p:pic>
        <p:nvPicPr>
          <p:cNvPr id="5" name="Image 0" descr="E:/Y3/UROP_Lloyd_Fung/Week 5/Final/satellite_deadband/satellite_deadband/outputs/report/step21_deep_dive/step21_hysteresis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008991"/>
            <a:ext cx="5605272" cy="329721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0" y="6217920"/>
            <a:ext cx="560527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loop, classified by the GMM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11274552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Space Agency. Manoeuvre Pattern of Life Prediction for SDA; 2025. Challenge brief.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Vallado DA. Fundamentals of Astrodynamics and Applications, 4th ed.; 2013. Microcosm Press.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Montenbruck O, Gill E. Satellite Orbits; 2000. Springer.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Petzold L. Automatic selection of methods for stiff and nonstiff ODEs; 1983. SIAM J Sci Stat Comput 4(1).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Savitzky A, Golay MJE. Smoothing and differentiation of data; 1964. Analytical Chemistry 36(8).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Dempster AP, Laird NM, Rubin DB. Maximum likelihood via the EM algorithm; 1977. JRSS B 39(1).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Brunton SL, Proctor JL, Kutz JN. Sparse identification of nonlinear dynamics; 2016. PNAS 113(15).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ME. Sparse Bayesian learning and the relevance vector machine; 2001. JMLR 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 L, Fasel U, Juniper MP. Rapid Bayesian identification of sparse nonlinear dynamics; 2024. arXiv 2402.15357.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Rasmussen CE, Williams CKI. Gaussian Processes for Machine Learning; 2006. MIT Press.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5669280" cy="5394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deadband/ (library) and stages/ (figures); python main.py reruns everything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report/briefing.pdf (methods, checks, all horizons)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topics: solver choice, mean SMA, GMM burn rule, BIC vs Brier, split learning, all-forces run</a:t>
            </a:r>
            <a:endParaRPr lang="en-US" sz="1600" dirty="0"/>
          </a:p>
        </p:txBody>
      </p:sp>
      <p:pic>
        <p:nvPicPr>
          <p:cNvPr id="5" name="Image 0" descr="E:/Y3/UROP_Lloyd_Fung/Week 5/Final/satellite_deadband/satellite_deadband/outputs/report/step1_dynamics/step1_force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02002"/>
            <a:ext cx="5422392" cy="27111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6217920"/>
            <a:ext cx="5422392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budget (for discussion)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Manoeuvre Pattern-of-Life Prediction for SDA</dc:title>
  <dc:subject>PptxGenJS Presentation</dc:subject>
  <dc:creator>PptxGenJS</dc:creator>
  <cp:lastModifiedBy>PptxGenJS</cp:lastModifiedBy>
  <cp:revision>1</cp:revision>
  <dcterms:created xsi:type="dcterms:W3CDTF">2026-10-07T20:02:35Z</dcterms:created>
  <dcterms:modified xsi:type="dcterms:W3CDTF">2026-10-07T20:02:35Z</dcterms:modified>
</cp:coreProperties>
</file>